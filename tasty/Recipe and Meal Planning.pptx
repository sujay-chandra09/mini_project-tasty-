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a:tcStyle>
        <a:tcBdr/>
        <a:fill>
          <a:solidFill>
            <a:srgbClr val="FFFFFF"/>
          </a:solidFill>
        </a:fill>
      </a:tcStyle>
    </a:band2H>
    <a:firstCo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16" d="100"/>
          <a:sy n="116" d="100"/>
        </p:scale>
        <p:origin x="3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9"/>
          </a:xfrm>
          <a:prstGeom prst="rect">
            <a:avLst/>
          </a:prstGeom>
        </p:spPr>
        <p:txBody>
          <a:bodyPr/>
          <a:lstStyle>
            <a:lvl1pPr marL="0" indent="0">
              <a:buSzTx/>
              <a:buFontTx/>
              <a:buNone/>
              <a:defRPr sz="2400">
                <a:solidFill>
                  <a:srgbClr val="757575"/>
                </a:solidFill>
              </a:defRPr>
            </a:lvl1pPr>
            <a:lvl2pPr marL="0" indent="0">
              <a:buSzTx/>
              <a:buFontTx/>
              <a:buNone/>
              <a:defRPr sz="2400">
                <a:solidFill>
                  <a:srgbClr val="757575"/>
                </a:solidFill>
              </a:defRPr>
            </a:lvl2pPr>
            <a:lvl3pPr marL="0" indent="0">
              <a:buSzTx/>
              <a:buFontTx/>
              <a:buNone/>
              <a:defRPr sz="2400">
                <a:solidFill>
                  <a:srgbClr val="757575"/>
                </a:solidFill>
              </a:defRPr>
            </a:lvl3pPr>
            <a:lvl4pPr marL="0" indent="0">
              <a:buSzTx/>
              <a:buFontTx/>
              <a:buNone/>
              <a:defRPr sz="2400">
                <a:solidFill>
                  <a:srgbClr val="757575"/>
                </a:solidFill>
              </a:defRPr>
            </a:lvl4pPr>
            <a:lvl5pPr marL="0" indent="0">
              <a:buSzTx/>
              <a:buFontTx/>
              <a:buNone/>
              <a:defRPr sz="2400">
                <a:solidFill>
                  <a:srgbClr val="757575"/>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90" cy="823914"/>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4"/>
          </a:xfrm>
          <a:prstGeom prst="rect">
            <a:avLst/>
          </a:prstGeom>
        </p:spPr>
        <p:txBody>
          <a:bodyPr anchor="b"/>
          <a:lstStyle/>
          <a:p>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40"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2"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6" y="2057400"/>
            <a:ext cx="3932241" cy="3811588"/>
          </a:xfrm>
          <a:prstGeom prst="rect">
            <a:avLst/>
          </a:prstGeom>
        </p:spPr>
        <p:txBody>
          <a:bodyPr/>
          <a:lstStyle/>
          <a:p>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40"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2" cy="4873625"/>
          </a:xfrm>
          <a:prstGeom prst="rect">
            <a:avLst/>
          </a:prstGeom>
        </p:spPr>
        <p:txBody>
          <a:bodyPr lIns="91439" tIns="45719" rIns="91439" bIns="45719">
            <a:noAutofit/>
          </a:bodyPr>
          <a:lstStyle/>
          <a:p>
            <a:endParaRPr/>
          </a:p>
        </p:txBody>
      </p:sp>
      <p:sp>
        <p:nvSpPr>
          <p:cNvPr id="84" name="Body Level One…"/>
          <p:cNvSpPr txBox="1">
            <a:spLocks noGrp="1"/>
          </p:cNvSpPr>
          <p:nvPr>
            <p:ph type="body" sz="quarter" idx="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80147" y="6404293"/>
            <a:ext cx="273654" cy="269239"/>
          </a:xfrm>
          <a:prstGeom prst="rect">
            <a:avLst/>
          </a:prstGeom>
          <a:ln w="12700">
            <a:miter lim="400000"/>
          </a:ln>
        </p:spPr>
        <p:txBody>
          <a:bodyPr wrap="none" lIns="45718" tIns="45718" rIns="45718" bIns="45718" anchor="ctr">
            <a:spAutoFit/>
          </a:bodyPr>
          <a:lstStyle>
            <a:lvl1pPr algn="r">
              <a:defRPr sz="1200">
                <a:solidFill>
                  <a:srgbClr val="757575"/>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2pPr>
      <a:lvl3pPr marL="12344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object 4"/>
          <p:cNvSpPr txBox="1"/>
          <p:nvPr/>
        </p:nvSpPr>
        <p:spPr>
          <a:xfrm>
            <a:off x="1920783" y="2924212"/>
            <a:ext cx="8584657" cy="444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12700" algn="ctr">
              <a:spcBef>
                <a:spcPts val="100"/>
              </a:spcBef>
              <a:defRPr sz="2900" b="1"/>
            </a:lvl1pPr>
          </a:lstStyle>
          <a:p>
            <a:r>
              <a:t>Project Title : Recipe and Meal Planning App</a:t>
            </a:r>
          </a:p>
        </p:txBody>
      </p:sp>
      <p:sp>
        <p:nvSpPr>
          <p:cNvPr id="95" name="object 5"/>
          <p:cNvSpPr txBox="1"/>
          <p:nvPr/>
        </p:nvSpPr>
        <p:spPr>
          <a:xfrm>
            <a:off x="3979897" y="3963072"/>
            <a:ext cx="5323524" cy="20310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R="5080" indent="24765">
              <a:spcBef>
                <a:spcPts val="100"/>
              </a:spcBef>
              <a:defRPr sz="2300" b="1" spc="-17">
                <a:latin typeface="Calibri"/>
                <a:ea typeface="Calibri"/>
                <a:cs typeface="Calibri"/>
                <a:sym typeface="Calibri"/>
              </a:defRPr>
            </a:pPr>
            <a:r>
              <a:t>23B81A05</a:t>
            </a:r>
            <a:r>
              <a:rPr spc="-150"/>
              <a:t>DT      </a:t>
            </a:r>
            <a:r>
              <a:rPr spc="0"/>
              <a:t>K Sidhu</a:t>
            </a:r>
            <a:br>
              <a:rPr spc="0"/>
            </a:br>
            <a:r>
              <a:rPr spc="-22"/>
              <a:t>23B81A05DW</a:t>
            </a:r>
            <a:r>
              <a:rPr spc="-8"/>
              <a:t>   U Srinivasulu</a:t>
            </a:r>
            <a:br>
              <a:rPr spc="-8"/>
            </a:br>
            <a:r>
              <a:rPr spc="-22"/>
              <a:t>23B81A05DY</a:t>
            </a:r>
            <a:r>
              <a:rPr spc="-123"/>
              <a:t>      </a:t>
            </a:r>
            <a:r>
              <a:rPr spc="0"/>
              <a:t>P Sujay Chandra Reddy</a:t>
            </a:r>
          </a:p>
          <a:p>
            <a:pPr>
              <a:spcBef>
                <a:spcPts val="2500"/>
              </a:spcBef>
              <a:defRPr sz="2300" b="1">
                <a:latin typeface="Calibri"/>
                <a:ea typeface="Calibri"/>
                <a:cs typeface="Calibri"/>
                <a:sym typeface="Calibri"/>
              </a:defRPr>
            </a:pPr>
            <a:endParaRPr spc="0"/>
          </a:p>
          <a:p>
            <a:pPr indent="60960">
              <a:defRPr sz="2300" b="1" spc="-8">
                <a:latin typeface="Calibri"/>
                <a:ea typeface="Calibri"/>
                <a:cs typeface="Calibri"/>
                <a:sym typeface="Calibri"/>
              </a:defRPr>
            </a:pPr>
            <a:r>
              <a:t>Supervisor – Ms.Annabathula Lalitha</a:t>
            </a:r>
          </a:p>
        </p:txBody>
      </p:sp>
      <p:sp>
        <p:nvSpPr>
          <p:cNvPr id="96" name="TextBox 3"/>
          <p:cNvSpPr txBox="1"/>
          <p:nvPr/>
        </p:nvSpPr>
        <p:spPr>
          <a:xfrm>
            <a:off x="2009181" y="595719"/>
            <a:ext cx="9264956" cy="18183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pPr algn="ctr">
              <a:defRPr sz="2400" b="1">
                <a:latin typeface="CG omega"/>
                <a:ea typeface="CG omega"/>
                <a:cs typeface="CG omega"/>
                <a:sym typeface="CG omega"/>
              </a:defRPr>
            </a:pPr>
            <a:r>
              <a:t>CVR COLLEGE OF ENGINEERING</a:t>
            </a:r>
            <a:br/>
            <a:r>
              <a:rPr>
                <a:latin typeface="Times New Roman"/>
                <a:ea typeface="Times New Roman"/>
                <a:cs typeface="Times New Roman"/>
                <a:sym typeface="Times New Roman"/>
              </a:rPr>
              <a:t>(An UGC Autonomous Institute, Accredited by NAAC with ‘A’ Grade)</a:t>
            </a:r>
            <a:br>
              <a:rPr>
                <a:latin typeface="Times New Roman"/>
                <a:ea typeface="Times New Roman"/>
                <a:cs typeface="Times New Roman"/>
                <a:sym typeface="Times New Roman"/>
              </a:rPr>
            </a:br>
            <a:r>
              <a:rPr>
                <a:latin typeface="Times New Roman"/>
                <a:ea typeface="Times New Roman"/>
                <a:cs typeface="Times New Roman"/>
                <a:sym typeface="Times New Roman"/>
              </a:rPr>
              <a:t>Department of CSE</a:t>
            </a:r>
            <a:br>
              <a:rPr>
                <a:latin typeface="Times New Roman"/>
                <a:ea typeface="Times New Roman"/>
                <a:cs typeface="Times New Roman"/>
                <a:sym typeface="Times New Roman"/>
              </a:rPr>
            </a:br>
            <a:r>
              <a:rPr>
                <a:latin typeface="Times New Roman"/>
                <a:ea typeface="Times New Roman"/>
                <a:cs typeface="Times New Roman"/>
                <a:sym typeface="Times New Roman"/>
              </a:rPr>
              <a:t>B. Tech CSE-G III Year II Semester</a:t>
            </a:r>
          </a:p>
          <a:p>
            <a:pPr algn="ctr">
              <a:defRPr sz="2400" b="1">
                <a:latin typeface="Times New Roman"/>
                <a:ea typeface="Times New Roman"/>
                <a:cs typeface="Times New Roman"/>
                <a:sym typeface="Times New Roman"/>
              </a:defRPr>
            </a:pPr>
            <a:r>
              <a:t>Industrial Oriented Mini Project</a:t>
            </a:r>
          </a:p>
        </p:txBody>
      </p:sp>
      <p:pic>
        <p:nvPicPr>
          <p:cNvPr id="97" name="Picture 9" descr="Picture 9"/>
          <p:cNvPicPr>
            <a:picLocks noChangeAspect="1"/>
          </p:cNvPicPr>
          <p:nvPr/>
        </p:nvPicPr>
        <p:blipFill>
          <a:blip r:embed="rId2"/>
          <a:stretch>
            <a:fillRect/>
          </a:stretch>
        </p:blipFill>
        <p:spPr>
          <a:xfrm>
            <a:off x="406747" y="693935"/>
            <a:ext cx="1618612" cy="1531932"/>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itle 1"/>
          <p:cNvSpPr txBox="1">
            <a:spLocks noGrp="1"/>
          </p:cNvSpPr>
          <p:nvPr>
            <p:ph type="title"/>
          </p:nvPr>
        </p:nvSpPr>
        <p:spPr>
          <a:xfrm>
            <a:off x="314633" y="408832"/>
            <a:ext cx="10515601" cy="1325564"/>
          </a:xfrm>
          <a:prstGeom prst="rect">
            <a:avLst/>
          </a:prstGeom>
        </p:spPr>
        <p:txBody>
          <a:bodyPr/>
          <a:lstStyle>
            <a:lvl1pPr>
              <a:defRPr b="1" u="sng"/>
            </a:lvl1pPr>
          </a:lstStyle>
          <a:p>
            <a:r>
              <a:t>Abstract</a:t>
            </a:r>
          </a:p>
        </p:txBody>
      </p:sp>
      <p:sp>
        <p:nvSpPr>
          <p:cNvPr id="100" name="Content Placeholder 2"/>
          <p:cNvSpPr txBox="1">
            <a:spLocks noGrp="1"/>
          </p:cNvSpPr>
          <p:nvPr>
            <p:ph type="body" idx="1"/>
          </p:nvPr>
        </p:nvSpPr>
        <p:spPr>
          <a:xfrm>
            <a:off x="142566" y="1637506"/>
            <a:ext cx="11637009" cy="4351340"/>
          </a:xfrm>
          <a:prstGeom prst="rect">
            <a:avLst/>
          </a:prstGeom>
        </p:spPr>
        <p:txBody>
          <a:bodyPr/>
          <a:lstStyle>
            <a:lvl1pPr marL="0" indent="0" algn="just" defTabSz="868680">
              <a:lnSpc>
                <a:spcPct val="108000"/>
              </a:lnSpc>
              <a:spcBef>
                <a:spcPts val="900"/>
              </a:spcBef>
              <a:buSzTx/>
              <a:buNone/>
              <a:defRPr sz="2600"/>
            </a:lvl1pPr>
          </a:lstStyle>
          <a:p>
            <a:r>
              <a:t>This project develops a Recipe and Meal Planning Application that helps users manage recipes, schedule meals, and prepare grocery lists efficiently. Users can create or import recipes with structured ingredients, instructions, and images, while a dynamic unit conversion engine adjusts measurements based on serving size accurately.It also includes a calendar-based meal planner that automatically generates a consolidated shopping list by combining ingredients from scheduled meals. The backend is built using Java with Spring Boot,  MongoDB ensures reliable data storage and Frontend is built using React, Tailwind CSS and JavaScript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txBox="1">
            <a:spLocks noGrp="1"/>
          </p:cNvSpPr>
          <p:nvPr>
            <p:ph type="title"/>
          </p:nvPr>
        </p:nvSpPr>
        <p:spPr>
          <a:xfrm>
            <a:off x="464574" y="453615"/>
            <a:ext cx="10515601" cy="1325563"/>
          </a:xfrm>
          <a:prstGeom prst="rect">
            <a:avLst/>
          </a:prstGeom>
        </p:spPr>
        <p:txBody>
          <a:bodyPr/>
          <a:lstStyle>
            <a:lvl1pPr>
              <a:defRPr b="1" u="sng"/>
            </a:lvl1pPr>
          </a:lstStyle>
          <a:p>
            <a:r>
              <a:t>Problem Statement</a:t>
            </a:r>
          </a:p>
        </p:txBody>
      </p:sp>
      <p:sp>
        <p:nvSpPr>
          <p:cNvPr id="103" name="Content Placeholder 2"/>
          <p:cNvSpPr txBox="1">
            <a:spLocks noGrp="1"/>
          </p:cNvSpPr>
          <p:nvPr>
            <p:ph type="body" idx="1"/>
          </p:nvPr>
        </p:nvSpPr>
        <p:spPr>
          <a:xfrm>
            <a:off x="739678" y="1624213"/>
            <a:ext cx="10515601" cy="4351338"/>
          </a:xfrm>
          <a:prstGeom prst="rect">
            <a:avLst/>
          </a:prstGeom>
        </p:spPr>
        <p:txBody>
          <a:bodyPr/>
          <a:lstStyle/>
          <a:p>
            <a:pPr marL="0" indent="0" algn="just" defTabSz="740662">
              <a:lnSpc>
                <a:spcPct val="108000"/>
              </a:lnSpc>
              <a:spcBef>
                <a:spcPts val="800"/>
              </a:spcBef>
              <a:buSzTx/>
              <a:buNone/>
              <a:defRPr sz="2200">
                <a:latin typeface="Aptos Display"/>
                <a:ea typeface="Aptos Display"/>
                <a:cs typeface="Aptos Display"/>
                <a:sym typeface="Aptos Display"/>
              </a:defRPr>
            </a:pPr>
            <a:r>
              <a:t>With the increasing demand for smart meal management, traditional meal planning methods suffer from:</a:t>
            </a:r>
          </a:p>
          <a:p>
            <a:pPr marL="0" indent="0" defTabSz="740662">
              <a:lnSpc>
                <a:spcPct val="120000"/>
              </a:lnSpc>
              <a:spcBef>
                <a:spcPts val="800"/>
              </a:spcBef>
              <a:buSzTx/>
              <a:buNone/>
              <a:defRPr sz="2200">
                <a:latin typeface="Aptos Display"/>
                <a:ea typeface="Aptos Display"/>
                <a:cs typeface="Aptos Display"/>
                <a:sym typeface="Aptos Display"/>
              </a:defRPr>
            </a:pPr>
            <a:r>
              <a:t>• Lack of clarity in deciding daily meals</a:t>
            </a:r>
            <a:br/>
            <a:r>
              <a:t>• Wastage of leftover ingredients</a:t>
            </a:r>
            <a:br/>
            <a:r>
              <a:t>• No proper budget planning for meals</a:t>
            </a:r>
            <a:br/>
            <a:r>
              <a:t>• Manual grocery list preparation</a:t>
            </a:r>
            <a:br/>
            <a:r>
              <a:t>• Limited personalized diet planning</a:t>
            </a:r>
          </a:p>
          <a:p>
            <a:pPr marL="220578" indent="-220578" defTabSz="457200">
              <a:lnSpc>
                <a:spcPct val="100000"/>
              </a:lnSpc>
              <a:spcBef>
                <a:spcPts val="0"/>
              </a:spcBef>
              <a:buFontTx/>
              <a:defRPr sz="2200"/>
            </a:pPr>
            <a:r>
              <a:t>Lack of community interaction in recipe platforms</a:t>
            </a:r>
          </a:p>
          <a:p>
            <a:pPr marL="0" indent="0" algn="just" defTabSz="740662">
              <a:lnSpc>
                <a:spcPct val="108000"/>
              </a:lnSpc>
              <a:spcBef>
                <a:spcPts val="800"/>
              </a:spcBef>
              <a:buSzTx/>
              <a:buNone/>
              <a:defRPr sz="2200"/>
            </a:pPr>
            <a:br/>
            <a:r>
              <a:t> There is a need for an efficient, automated, and personalized meal planning system.</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Literature Survey"/>
          <p:cNvSpPr txBox="1">
            <a:spLocks noGrp="1"/>
          </p:cNvSpPr>
          <p:nvPr>
            <p:ph type="title"/>
          </p:nvPr>
        </p:nvSpPr>
        <p:spPr>
          <a:xfrm>
            <a:off x="281266" y="-70736"/>
            <a:ext cx="10515601" cy="1325564"/>
          </a:xfrm>
          <a:prstGeom prst="rect">
            <a:avLst/>
          </a:prstGeom>
        </p:spPr>
        <p:txBody>
          <a:bodyPr/>
          <a:lstStyle>
            <a:lvl1pPr>
              <a:defRPr sz="4200" b="1" u="sng"/>
            </a:lvl1pPr>
          </a:lstStyle>
          <a:p>
            <a:r>
              <a:t>Literature Survey</a:t>
            </a:r>
          </a:p>
        </p:txBody>
      </p:sp>
      <p:graphicFrame>
        <p:nvGraphicFramePr>
          <p:cNvPr id="106" name="Table 2"/>
          <p:cNvGraphicFramePr/>
          <p:nvPr/>
        </p:nvGraphicFramePr>
        <p:xfrm>
          <a:off x="625066" y="1067857"/>
          <a:ext cx="10512000" cy="5048455"/>
        </p:xfrm>
        <a:graphic>
          <a:graphicData uri="http://schemas.openxmlformats.org/drawingml/2006/table">
            <a:tbl>
              <a:tblPr>
                <a:tableStyleId>{4C3C2611-4C71-4FC5-86AE-919BDF0F9419}</a:tableStyleId>
              </a:tblPr>
              <a:tblGrid>
                <a:gridCol w="2340000">
                  <a:extLst>
                    <a:ext uri="{9D8B030D-6E8A-4147-A177-3AD203B41FA5}">
                      <a16:colId xmlns:a16="http://schemas.microsoft.com/office/drawing/2014/main" val="20000"/>
                    </a:ext>
                  </a:extLst>
                </a:gridCol>
                <a:gridCol w="1512000">
                  <a:extLst>
                    <a:ext uri="{9D8B030D-6E8A-4147-A177-3AD203B41FA5}">
                      <a16:colId xmlns:a16="http://schemas.microsoft.com/office/drawing/2014/main" val="20001"/>
                    </a:ext>
                  </a:extLst>
                </a:gridCol>
                <a:gridCol w="3348000">
                  <a:extLst>
                    <a:ext uri="{9D8B030D-6E8A-4147-A177-3AD203B41FA5}">
                      <a16:colId xmlns:a16="http://schemas.microsoft.com/office/drawing/2014/main" val="20002"/>
                    </a:ext>
                  </a:extLst>
                </a:gridCol>
                <a:gridCol w="3312000">
                  <a:extLst>
                    <a:ext uri="{9D8B030D-6E8A-4147-A177-3AD203B41FA5}">
                      <a16:colId xmlns:a16="http://schemas.microsoft.com/office/drawing/2014/main" val="20003"/>
                    </a:ext>
                  </a:extLst>
                </a:gridCol>
              </a:tblGrid>
              <a:tr h="504000">
                <a:tc>
                  <a:txBody>
                    <a:bodyPr/>
                    <a:lstStyle/>
                    <a:p>
                      <a:pPr algn="ctr">
                        <a:defRPr sz="1800"/>
                      </a:pPr>
                      <a:r>
                        <a:rPr sz="1600" b="1"/>
                        <a:t>Author</a:t>
                      </a:r>
                    </a:p>
                  </a:txBody>
                  <a:tcPr marL="45720" marR="45720" horzOverflow="overflow">
                    <a:solidFill>
                      <a:srgbClr val="D9D9D9"/>
                    </a:solidFill>
                  </a:tcPr>
                </a:tc>
                <a:tc>
                  <a:txBody>
                    <a:bodyPr/>
                    <a:lstStyle/>
                    <a:p>
                      <a:pPr algn="ctr">
                        <a:defRPr sz="1800"/>
                      </a:pPr>
                      <a:r>
                        <a:rPr sz="1600" b="1"/>
                        <a:t>Year</a:t>
                      </a:r>
                    </a:p>
                  </a:txBody>
                  <a:tcPr marL="45720" marR="45720" horzOverflow="overflow">
                    <a:solidFill>
                      <a:srgbClr val="D9D9D9"/>
                    </a:solidFill>
                  </a:tcPr>
                </a:tc>
                <a:tc>
                  <a:txBody>
                    <a:bodyPr/>
                    <a:lstStyle/>
                    <a:p>
                      <a:pPr algn="ctr">
                        <a:defRPr sz="1800"/>
                      </a:pPr>
                      <a:r>
                        <a:rPr sz="1600" b="1"/>
                        <a:t>Findings</a:t>
                      </a:r>
                    </a:p>
                  </a:txBody>
                  <a:tcPr marL="45720" marR="45720" horzOverflow="overflow">
                    <a:solidFill>
                      <a:srgbClr val="D9D9D9"/>
                    </a:solidFill>
                  </a:tcPr>
                </a:tc>
                <a:tc>
                  <a:txBody>
                    <a:bodyPr/>
                    <a:lstStyle/>
                    <a:p>
                      <a:pPr algn="ctr">
                        <a:defRPr sz="1800"/>
                      </a:pPr>
                      <a:r>
                        <a:rPr sz="1600" b="1"/>
                        <a:t>Benefits / Contribution</a:t>
                      </a:r>
                    </a:p>
                  </a:txBody>
                  <a:tcPr marL="45720" marR="45720" horzOverflow="overflow">
                    <a:solidFill>
                      <a:srgbClr val="D9D9D9"/>
                    </a:solidFill>
                  </a:tcPr>
                </a:tc>
                <a:extLst>
                  <a:ext uri="{0D108BD9-81ED-4DB2-BD59-A6C34878D82A}">
                    <a16:rowId xmlns:a16="http://schemas.microsoft.com/office/drawing/2014/main" val="10000"/>
                  </a:ext>
                </a:extLst>
              </a:tr>
              <a:tr h="908891">
                <a:tc>
                  <a:txBody>
                    <a:bodyPr/>
                    <a:lstStyle/>
                    <a:p>
                      <a:pPr algn="l">
                        <a:defRPr sz="1800"/>
                      </a:pPr>
                      <a:r>
                        <a:rPr sz="1400"/>
                        <a:t>1. Gupta et al.</a:t>
                      </a:r>
                    </a:p>
                  </a:txBody>
                  <a:tcPr marL="45720" marR="45720" horzOverflow="overflow"/>
                </a:tc>
                <a:tc>
                  <a:txBody>
                    <a:bodyPr/>
                    <a:lstStyle/>
                    <a:p>
                      <a:pPr algn="l">
                        <a:defRPr sz="1800"/>
                      </a:pPr>
                      <a:r>
                        <a:rPr sz="1400"/>
                        <a:t>2024</a:t>
                      </a:r>
                    </a:p>
                  </a:txBody>
                  <a:tcPr marL="45720" marR="45720" horzOverflow="overflow"/>
                </a:tc>
                <a:tc>
                  <a:txBody>
                    <a:bodyPr/>
                    <a:lstStyle/>
                    <a:p>
                      <a:pPr algn="l">
                        <a:defRPr sz="1800"/>
                      </a:pPr>
                      <a:r>
                        <a:rPr sz="1400"/>
                        <a:t>Proposed a budget-aware meal planning system that filters recipes based on real-time ingredient pricing.</a:t>
                      </a:r>
                    </a:p>
                  </a:txBody>
                  <a:tcPr marL="45720" marR="45720" horzOverflow="overflow"/>
                </a:tc>
                <a:tc>
                  <a:txBody>
                    <a:bodyPr/>
                    <a:lstStyle/>
                    <a:p>
                      <a:pPr algn="l">
                        <a:defRPr sz="1800"/>
                      </a:pPr>
                      <a:r>
                        <a:rPr sz="1400"/>
                        <a:t>Enabled cost-conscious cooking decisions and reduced household food expenditure.</a:t>
                      </a:r>
                    </a:p>
                  </a:txBody>
                  <a:tcPr marL="45720" marR="45720" horzOverflow="overflow"/>
                </a:tc>
                <a:extLst>
                  <a:ext uri="{0D108BD9-81ED-4DB2-BD59-A6C34878D82A}">
                    <a16:rowId xmlns:a16="http://schemas.microsoft.com/office/drawing/2014/main" val="10001"/>
                  </a:ext>
                </a:extLst>
              </a:tr>
              <a:tr h="908891">
                <a:tc>
                  <a:txBody>
                    <a:bodyPr/>
                    <a:lstStyle/>
                    <a:p>
                      <a:pPr algn="l">
                        <a:defRPr sz="1800"/>
                      </a:pPr>
                      <a:r>
                        <a:rPr sz="1400"/>
                        <a:t>2. Sharma &amp; Reddy</a:t>
                      </a:r>
                    </a:p>
                  </a:txBody>
                  <a:tcPr marL="45720" marR="45720" horzOverflow="overflow"/>
                </a:tc>
                <a:tc>
                  <a:txBody>
                    <a:bodyPr/>
                    <a:lstStyle/>
                    <a:p>
                      <a:pPr algn="l">
                        <a:defRPr sz="1800"/>
                      </a:pPr>
                      <a:r>
                        <a:rPr sz="1400"/>
                        <a:t>2023</a:t>
                      </a:r>
                    </a:p>
                  </a:txBody>
                  <a:tcPr marL="45720" marR="45720" horzOverflow="overflow"/>
                </a:tc>
                <a:tc>
                  <a:txBody>
                    <a:bodyPr/>
                    <a:lstStyle/>
                    <a:p>
                      <a:pPr algn="l">
                        <a:defRPr sz="1800"/>
                      </a:pPr>
                      <a:r>
                        <a:rPr sz="1400"/>
                        <a:t>Implemented JWT-based authentication and role management in a food delivery web application using Spring Boot.</a:t>
                      </a:r>
                    </a:p>
                  </a:txBody>
                  <a:tcPr marL="45720" marR="45720" horzOverflow="overflow"/>
                </a:tc>
                <a:tc>
                  <a:txBody>
                    <a:bodyPr/>
                    <a:lstStyle/>
                    <a:p>
                      <a:pPr algn="l">
                        <a:defRPr sz="1800"/>
                      </a:pPr>
                      <a:r>
                        <a:rPr sz="1400"/>
                        <a:t>Enhanced data security, user access control, and stateless session management.</a:t>
                      </a:r>
                    </a:p>
                  </a:txBody>
                  <a:tcPr marL="45720" marR="45720" horzOverflow="overflow"/>
                </a:tc>
                <a:extLst>
                  <a:ext uri="{0D108BD9-81ED-4DB2-BD59-A6C34878D82A}">
                    <a16:rowId xmlns:a16="http://schemas.microsoft.com/office/drawing/2014/main" val="10002"/>
                  </a:ext>
                </a:extLst>
              </a:tr>
              <a:tr h="908891">
                <a:tc>
                  <a:txBody>
                    <a:bodyPr/>
                    <a:lstStyle/>
                    <a:p>
                      <a:pPr algn="l">
                        <a:defRPr sz="1800"/>
                      </a:pPr>
                      <a:r>
                        <a:rPr sz="1400"/>
                        <a:t>3. Lee et al.</a:t>
                      </a:r>
                    </a:p>
                  </a:txBody>
                  <a:tcPr marL="45720" marR="45720" horzOverflow="overflow"/>
                </a:tc>
                <a:tc>
                  <a:txBody>
                    <a:bodyPr/>
                    <a:lstStyle/>
                    <a:p>
                      <a:pPr algn="l">
                        <a:defRPr sz="1800"/>
                      </a:pPr>
                      <a:r>
                        <a:rPr sz="1400"/>
                        <a:t>2023</a:t>
                      </a:r>
                    </a:p>
                  </a:txBody>
                  <a:tcPr marL="45720" marR="45720" horzOverflow="overflow"/>
                </a:tc>
                <a:tc>
                  <a:txBody>
                    <a:bodyPr/>
                    <a:lstStyle/>
                    <a:p>
                      <a:pPr algn="l">
                        <a:defRPr sz="1800"/>
                      </a:pPr>
                      <a:r>
                        <a:rPr sz="1400"/>
                        <a:t>Designed a weekly meal scheduler integrated with an auto-generated grocery list feature for diet tracking.</a:t>
                      </a:r>
                    </a:p>
                  </a:txBody>
                  <a:tcPr marL="45720" marR="45720" horzOverflow="overflow"/>
                </a:tc>
                <a:tc>
                  <a:txBody>
                    <a:bodyPr/>
                    <a:lstStyle/>
                    <a:p>
                      <a:pPr algn="l">
                        <a:defRPr sz="1800"/>
                      </a:pPr>
                      <a:r>
                        <a:rPr sz="1400"/>
                        <a:t>Reduced manual meal planning effort and streamlined weekly grocery shopping</a:t>
                      </a:r>
                    </a:p>
                  </a:txBody>
                  <a:tcPr marL="45720" marR="45720" horzOverflow="overflow"/>
                </a:tc>
                <a:extLst>
                  <a:ext uri="{0D108BD9-81ED-4DB2-BD59-A6C34878D82A}">
                    <a16:rowId xmlns:a16="http://schemas.microsoft.com/office/drawing/2014/main" val="10003"/>
                  </a:ext>
                </a:extLst>
              </a:tr>
              <a:tr h="908891">
                <a:tc>
                  <a:txBody>
                    <a:bodyPr/>
                    <a:lstStyle/>
                    <a:p>
                      <a:pPr algn="l">
                        <a:defRPr sz="1800"/>
                      </a:pPr>
                      <a:r>
                        <a:rPr sz="1400"/>
                        <a:t>4. Fernandez &amp; Nair</a:t>
                      </a:r>
                    </a:p>
                  </a:txBody>
                  <a:tcPr marL="45720" marR="45720" horzOverflow="overflow"/>
                </a:tc>
                <a:tc>
                  <a:txBody>
                    <a:bodyPr/>
                    <a:lstStyle/>
                    <a:p>
                      <a:pPr algn="l">
                        <a:defRPr sz="1800"/>
                      </a:pPr>
                      <a:r>
                        <a:rPr sz="1400"/>
                        <a:t>2022</a:t>
                      </a:r>
                    </a:p>
                  </a:txBody>
                  <a:tcPr marL="45720" marR="45720" horzOverflow="overflow"/>
                </a:tc>
                <a:tc>
                  <a:txBody>
                    <a:bodyPr/>
                    <a:lstStyle/>
                    <a:p>
                      <a:pPr algn="l">
                        <a:defRPr sz="1800"/>
                      </a:pPr>
                      <a:r>
                        <a:rPr sz="1400"/>
                        <a:t>Developed a nutrition analytics dashboard displaying calorie and protein intake using visual charts for diet monitoring.</a:t>
                      </a:r>
                    </a:p>
                  </a:txBody>
                  <a:tcPr marL="45720" marR="45720" horzOverflow="overflow"/>
                </a:tc>
                <a:tc>
                  <a:txBody>
                    <a:bodyPr/>
                    <a:lstStyle/>
                    <a:p>
                      <a:pPr algn="l">
                        <a:defRPr sz="1800"/>
                      </a:pPr>
                      <a:r>
                        <a:rPr sz="1400"/>
                        <a:t>Enabled data-driven dietary decisions through pie and bar chart visualizations.</a:t>
                      </a:r>
                    </a:p>
                  </a:txBody>
                  <a:tcPr marL="45720" marR="45720" horzOverflow="overflow"/>
                </a:tc>
                <a:extLst>
                  <a:ext uri="{0D108BD9-81ED-4DB2-BD59-A6C34878D82A}">
                    <a16:rowId xmlns:a16="http://schemas.microsoft.com/office/drawing/2014/main" val="10004"/>
                  </a:ext>
                </a:extLst>
              </a:tr>
              <a:tr h="908891">
                <a:tc>
                  <a:txBody>
                    <a:bodyPr/>
                    <a:lstStyle/>
                    <a:p>
                      <a:pPr algn="l">
                        <a:defRPr sz="1800"/>
                      </a:pPr>
                      <a:r>
                        <a:rPr sz="1400"/>
                        <a:t>5. Mehta &amp; Joshi</a:t>
                      </a:r>
                    </a:p>
                  </a:txBody>
                  <a:tcPr marL="45720" marR="45720" horzOverflow="overflow"/>
                </a:tc>
                <a:tc>
                  <a:txBody>
                    <a:bodyPr/>
                    <a:lstStyle/>
                    <a:p>
                      <a:pPr algn="l">
                        <a:defRPr sz="1800"/>
                      </a:pPr>
                      <a:r>
                        <a:rPr sz="1400"/>
                        <a:t>2022</a:t>
                      </a:r>
                    </a:p>
                  </a:txBody>
                  <a:tcPr marL="45720" marR="45720" horzOverflow="overflow"/>
                </a:tc>
                <a:tc>
                  <a:txBody>
                    <a:bodyPr/>
                    <a:lstStyle/>
                    <a:p>
                      <a:pPr algn="l">
                        <a:defRPr sz="1800"/>
                      </a:pPr>
                      <a:r>
                        <a:rPr sz="1400"/>
                        <a:t>Integrated a time-based and category-based recipe filtering mechanism in a cooking assistance mobile application.</a:t>
                      </a:r>
                    </a:p>
                  </a:txBody>
                  <a:tcPr marL="45720" marR="45720" horzOverflow="overflow"/>
                </a:tc>
                <a:tc>
                  <a:txBody>
                    <a:bodyPr/>
                    <a:lstStyle/>
                    <a:p>
                      <a:pPr algn="l">
                        <a:defRPr sz="1800"/>
                      </a:pPr>
                      <a:r>
                        <a:rPr sz="1400"/>
                        <a:t>Improved time efficiency in recipe discovery and reduced decision fatigue for users.</a:t>
                      </a:r>
                    </a:p>
                  </a:txBody>
                  <a:tcPr marL="45720" marR="45720" horzOverflow="overflow"/>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itle 1"/>
          <p:cNvSpPr txBox="1">
            <a:spLocks noGrp="1"/>
          </p:cNvSpPr>
          <p:nvPr>
            <p:ph type="title"/>
          </p:nvPr>
        </p:nvSpPr>
        <p:spPr>
          <a:xfrm>
            <a:off x="543232" y="506244"/>
            <a:ext cx="10515601" cy="1325563"/>
          </a:xfrm>
          <a:prstGeom prst="rect">
            <a:avLst/>
          </a:prstGeom>
        </p:spPr>
        <p:txBody>
          <a:bodyPr/>
          <a:lstStyle>
            <a:lvl1pPr>
              <a:defRPr b="1" u="sng"/>
            </a:lvl1pPr>
          </a:lstStyle>
          <a:p>
            <a:r>
              <a:t>Project Objectives</a:t>
            </a:r>
          </a:p>
        </p:txBody>
      </p:sp>
      <p:sp>
        <p:nvSpPr>
          <p:cNvPr id="109" name="Rectangle 3"/>
          <p:cNvSpPr txBox="1">
            <a:spLocks noGrp="1"/>
          </p:cNvSpPr>
          <p:nvPr>
            <p:ph type="body" sz="half" idx="1"/>
          </p:nvPr>
        </p:nvSpPr>
        <p:spPr>
          <a:xfrm>
            <a:off x="739876" y="1831806"/>
            <a:ext cx="5804144" cy="4161371"/>
          </a:xfrm>
          <a:prstGeom prst="rect">
            <a:avLst/>
          </a:prstGeom>
        </p:spPr>
        <p:txBody>
          <a:bodyPr anchor="ctr"/>
          <a:lstStyle/>
          <a:p>
            <a:pPr marL="0" indent="0" algn="just" defTabSz="777240">
              <a:lnSpc>
                <a:spcPct val="108000"/>
              </a:lnSpc>
              <a:spcBef>
                <a:spcPts val="0"/>
              </a:spcBef>
              <a:buFontTx/>
              <a:defRPr sz="2300">
                <a:latin typeface="Aptos Display"/>
                <a:ea typeface="Aptos Display"/>
                <a:cs typeface="Aptos Display"/>
                <a:sym typeface="Aptos Display"/>
              </a:defRPr>
            </a:pPr>
            <a:r>
              <a:t>Recipe Recommendation</a:t>
            </a:r>
          </a:p>
          <a:p>
            <a:pPr marL="0" indent="0" algn="just" defTabSz="777240">
              <a:lnSpc>
                <a:spcPct val="108000"/>
              </a:lnSpc>
              <a:spcBef>
                <a:spcPts val="0"/>
              </a:spcBef>
              <a:buFontTx/>
              <a:defRPr sz="2300">
                <a:latin typeface="Aptos Display"/>
                <a:ea typeface="Aptos Display"/>
                <a:cs typeface="Aptos Display"/>
                <a:sym typeface="Aptos Display"/>
              </a:defRPr>
            </a:pPr>
            <a:r>
              <a:t>Leftover Ingredient Suggestions</a:t>
            </a:r>
          </a:p>
          <a:p>
            <a:pPr marL="0" indent="0" algn="just" defTabSz="777240">
              <a:lnSpc>
                <a:spcPct val="108000"/>
              </a:lnSpc>
              <a:spcBef>
                <a:spcPts val="0"/>
              </a:spcBef>
              <a:buFontTx/>
              <a:defRPr sz="2300">
                <a:latin typeface="Aptos Display"/>
                <a:ea typeface="Aptos Display"/>
                <a:cs typeface="Aptos Display"/>
                <a:sym typeface="Aptos Display"/>
              </a:defRPr>
            </a:pPr>
            <a:r>
              <a:t>Budget-Based Recipe Filtering</a:t>
            </a:r>
          </a:p>
          <a:p>
            <a:pPr marL="0" indent="0" algn="just" defTabSz="777240">
              <a:lnSpc>
                <a:spcPct val="108000"/>
              </a:lnSpc>
              <a:spcBef>
                <a:spcPts val="0"/>
              </a:spcBef>
              <a:buFontTx/>
              <a:defRPr sz="2300">
                <a:latin typeface="Aptos Display"/>
                <a:ea typeface="Aptos Display"/>
                <a:cs typeface="Aptos Display"/>
                <a:sym typeface="Aptos Display"/>
              </a:defRPr>
            </a:pPr>
            <a:r>
              <a:t>Time-Based Meal Filter</a:t>
            </a:r>
          </a:p>
          <a:p>
            <a:pPr marL="0" indent="0" algn="just" defTabSz="777240">
              <a:lnSpc>
                <a:spcPct val="108000"/>
              </a:lnSpc>
              <a:spcBef>
                <a:spcPts val="0"/>
              </a:spcBef>
              <a:buFontTx/>
              <a:defRPr sz="2300">
                <a:latin typeface="Aptos Display"/>
                <a:ea typeface="Aptos Display"/>
                <a:cs typeface="Aptos Display"/>
                <a:sym typeface="Aptos Display"/>
              </a:defRPr>
            </a:pPr>
            <a:r>
              <a:t>Meal Schedule Planner</a:t>
            </a:r>
          </a:p>
          <a:p>
            <a:pPr marL="0" indent="0" algn="just" defTabSz="777240">
              <a:lnSpc>
                <a:spcPct val="108000"/>
              </a:lnSpc>
              <a:spcBef>
                <a:spcPts val="0"/>
              </a:spcBef>
              <a:buFontTx/>
              <a:defRPr sz="2300">
                <a:latin typeface="Aptos Display"/>
                <a:ea typeface="Aptos Display"/>
                <a:cs typeface="Aptos Display"/>
                <a:sym typeface="Aptos Display"/>
              </a:defRPr>
            </a:pPr>
            <a:r>
              <a:t>Auto Grocery List Generator</a:t>
            </a:r>
          </a:p>
          <a:p>
            <a:pPr marL="0" indent="0" algn="just" defTabSz="777240">
              <a:lnSpc>
                <a:spcPct val="108000"/>
              </a:lnSpc>
              <a:spcBef>
                <a:spcPts val="0"/>
              </a:spcBef>
              <a:buFontTx/>
              <a:defRPr sz="2300">
                <a:latin typeface="Aptos Display"/>
                <a:ea typeface="Aptos Display"/>
                <a:cs typeface="Aptos Display"/>
                <a:sym typeface="Aptos Display"/>
              </a:defRPr>
            </a:pPr>
            <a:r>
              <a:t>Personalized Recipe Feed</a:t>
            </a:r>
          </a:p>
          <a:p>
            <a:pPr marL="0" indent="0" algn="just" defTabSz="777240">
              <a:lnSpc>
                <a:spcPct val="108000"/>
              </a:lnSpc>
              <a:spcBef>
                <a:spcPts val="0"/>
              </a:spcBef>
              <a:buFontTx/>
              <a:defRPr sz="2300">
                <a:latin typeface="Aptos Display"/>
                <a:ea typeface="Aptos Display"/>
                <a:cs typeface="Aptos Display"/>
                <a:sym typeface="Aptos Display"/>
              </a:defRPr>
            </a:pPr>
            <a:r>
              <a:t>Weekly Diet Analytics Dashboard</a:t>
            </a:r>
          </a:p>
          <a:p>
            <a:pPr marL="0" indent="0" algn="just" defTabSz="777240">
              <a:lnSpc>
                <a:spcPct val="108000"/>
              </a:lnSpc>
              <a:spcBef>
                <a:spcPts val="0"/>
              </a:spcBef>
              <a:buFontTx/>
              <a:defRPr sz="2300">
                <a:latin typeface="Aptos Display"/>
                <a:ea typeface="Aptos Display"/>
                <a:cs typeface="Aptos Display"/>
                <a:sym typeface="Aptos Display"/>
              </a:defRPr>
            </a:pPr>
            <a:r>
              <a:t>Meal Reminder Notifications</a:t>
            </a:r>
          </a:p>
          <a:p>
            <a:pPr marL="0" indent="0" algn="just" defTabSz="777240">
              <a:lnSpc>
                <a:spcPct val="108000"/>
              </a:lnSpc>
              <a:spcBef>
                <a:spcPts val="0"/>
              </a:spcBef>
              <a:buFontTx/>
              <a:defRPr sz="2300">
                <a:latin typeface="Aptos Display"/>
                <a:ea typeface="Aptos Display"/>
                <a:cs typeface="Aptos Display"/>
                <a:sym typeface="Aptos Display"/>
              </a:defRPr>
            </a:pPr>
            <a:r>
              <a:t>Social Interaction Layer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itle 1"/>
          <p:cNvSpPr txBox="1">
            <a:spLocks noGrp="1"/>
          </p:cNvSpPr>
          <p:nvPr>
            <p:ph type="title"/>
          </p:nvPr>
        </p:nvSpPr>
        <p:spPr>
          <a:xfrm>
            <a:off x="582561" y="355293"/>
            <a:ext cx="10515601" cy="1325563"/>
          </a:xfrm>
          <a:prstGeom prst="rect">
            <a:avLst/>
          </a:prstGeom>
        </p:spPr>
        <p:txBody>
          <a:bodyPr/>
          <a:lstStyle>
            <a:lvl1pPr>
              <a:defRPr b="1"/>
            </a:lvl1pPr>
          </a:lstStyle>
          <a:p>
            <a:r>
              <a:t>Existing System: Yummly Website</a:t>
            </a:r>
          </a:p>
        </p:txBody>
      </p:sp>
      <p:sp>
        <p:nvSpPr>
          <p:cNvPr id="112" name="Content Placeholder 2"/>
          <p:cNvSpPr txBox="1">
            <a:spLocks noGrp="1"/>
          </p:cNvSpPr>
          <p:nvPr>
            <p:ph type="body" idx="1"/>
          </p:nvPr>
        </p:nvSpPr>
        <p:spPr>
          <a:xfrm>
            <a:off x="838200" y="1609316"/>
            <a:ext cx="10515600" cy="4351338"/>
          </a:xfrm>
          <a:prstGeom prst="rect">
            <a:avLst/>
          </a:prstGeom>
        </p:spPr>
        <p:txBody>
          <a:bodyPr/>
          <a:lstStyle/>
          <a:p>
            <a:pPr marL="185165" indent="-185165" defTabSz="740662">
              <a:lnSpc>
                <a:spcPct val="120000"/>
              </a:lnSpc>
              <a:spcBef>
                <a:spcPts val="800"/>
              </a:spcBef>
              <a:defRPr sz="2200" b="1"/>
            </a:pPr>
            <a:r>
              <a:t>Traditional Systems</a:t>
            </a:r>
            <a:br/>
            <a:r>
              <a:rPr b="0"/>
              <a:t>Static recipe browsing</a:t>
            </a:r>
            <a:br>
              <a:rPr b="0"/>
            </a:br>
            <a:r>
              <a:rPr b="0"/>
              <a:t>Manual meal planning</a:t>
            </a:r>
            <a:br>
              <a:rPr b="0"/>
            </a:br>
            <a:r>
              <a:rPr b="0"/>
              <a:t>Separate grocery list preparation</a:t>
            </a:r>
          </a:p>
          <a:p>
            <a:pPr marL="185165" indent="-185165" defTabSz="740662">
              <a:lnSpc>
                <a:spcPct val="120000"/>
              </a:lnSpc>
              <a:spcBef>
                <a:spcPts val="800"/>
              </a:spcBef>
              <a:defRPr sz="2200" b="1"/>
            </a:pPr>
            <a:r>
              <a:t>Limitations</a:t>
            </a:r>
            <a:br/>
            <a:r>
              <a:rPr b="0"/>
              <a:t>No automated meal scheduling</a:t>
            </a:r>
            <a:br>
              <a:rPr b="0"/>
            </a:br>
            <a:r>
              <a:rPr b="0"/>
              <a:t>Manual grocery planning</a:t>
            </a:r>
            <a:br>
              <a:rPr b="0"/>
            </a:br>
            <a:r>
              <a:rPr b="0"/>
              <a:t>No budget-based filtering</a:t>
            </a:r>
            <a:br>
              <a:rPr b="0"/>
            </a:br>
            <a:r>
              <a:rPr b="0"/>
              <a:t>Limited personalization</a:t>
            </a:r>
            <a:br>
              <a:rPr b="0"/>
            </a:br>
            <a:r>
              <a:rPr b="0"/>
              <a:t>No diet analytics or reminders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itle 1"/>
          <p:cNvSpPr txBox="1">
            <a:spLocks noGrp="1"/>
          </p:cNvSpPr>
          <p:nvPr>
            <p:ph type="title"/>
          </p:nvPr>
        </p:nvSpPr>
        <p:spPr>
          <a:xfrm>
            <a:off x="405579" y="365125"/>
            <a:ext cx="10515601" cy="1325563"/>
          </a:xfrm>
          <a:prstGeom prst="rect">
            <a:avLst/>
          </a:prstGeom>
        </p:spPr>
        <p:txBody>
          <a:bodyPr/>
          <a:lstStyle>
            <a:lvl1pPr>
              <a:defRPr b="1" u="sng"/>
            </a:lvl1pPr>
          </a:lstStyle>
          <a:p>
            <a:r>
              <a:t>Proposed System</a:t>
            </a:r>
          </a:p>
        </p:txBody>
      </p:sp>
      <p:sp>
        <p:nvSpPr>
          <p:cNvPr id="115" name="Content Placeholder 2"/>
          <p:cNvSpPr txBox="1">
            <a:spLocks noGrp="1"/>
          </p:cNvSpPr>
          <p:nvPr>
            <p:ph type="body" idx="1"/>
          </p:nvPr>
        </p:nvSpPr>
        <p:spPr>
          <a:xfrm>
            <a:off x="651386" y="1690688"/>
            <a:ext cx="10515601" cy="4351340"/>
          </a:xfrm>
          <a:prstGeom prst="rect">
            <a:avLst/>
          </a:prstGeom>
        </p:spPr>
        <p:txBody>
          <a:bodyPr/>
          <a:lstStyle/>
          <a:p>
            <a:pPr marL="0" indent="0" algn="just" defTabSz="777240">
              <a:lnSpc>
                <a:spcPct val="108000"/>
              </a:lnSpc>
              <a:spcBef>
                <a:spcPts val="800"/>
              </a:spcBef>
              <a:buSzTx/>
              <a:buNone/>
              <a:defRPr sz="2100"/>
            </a:pPr>
            <a:r>
              <a:t>The proposed system introduces:</a:t>
            </a:r>
          </a:p>
          <a:p>
            <a:pPr marL="194309" indent="-194309" algn="just" defTabSz="777240">
              <a:lnSpc>
                <a:spcPct val="108000"/>
              </a:lnSpc>
              <a:spcBef>
                <a:spcPts val="800"/>
              </a:spcBef>
              <a:defRPr sz="2100"/>
            </a:pPr>
            <a:r>
              <a:t>Recipe Creation &amp; Management</a:t>
            </a:r>
          </a:p>
          <a:p>
            <a:pPr marL="194309" indent="-194309" algn="just" defTabSz="777240">
              <a:lnSpc>
                <a:spcPct val="108000"/>
              </a:lnSpc>
              <a:spcBef>
                <a:spcPts val="800"/>
              </a:spcBef>
              <a:defRPr sz="2100"/>
            </a:pPr>
            <a:r>
              <a:t>Time-Based Recipe Filtering</a:t>
            </a:r>
          </a:p>
          <a:p>
            <a:pPr marL="194309" indent="-194309" algn="just" defTabSz="777240">
              <a:lnSpc>
                <a:spcPct val="108000"/>
              </a:lnSpc>
              <a:spcBef>
                <a:spcPts val="800"/>
              </a:spcBef>
              <a:defRPr sz="2100"/>
            </a:pPr>
            <a:r>
              <a:t>Budget-Based Meal Planning</a:t>
            </a:r>
          </a:p>
          <a:p>
            <a:pPr marL="194309" indent="-194309" algn="just" defTabSz="777240">
              <a:lnSpc>
                <a:spcPct val="108000"/>
              </a:lnSpc>
              <a:spcBef>
                <a:spcPts val="800"/>
              </a:spcBef>
              <a:defRPr sz="2100"/>
            </a:pPr>
            <a:r>
              <a:t>Leftover Ingredient Suggestions</a:t>
            </a:r>
          </a:p>
          <a:p>
            <a:pPr marL="194309" indent="-194309" algn="just" defTabSz="777240">
              <a:lnSpc>
                <a:spcPct val="108000"/>
              </a:lnSpc>
              <a:spcBef>
                <a:spcPts val="800"/>
              </a:spcBef>
              <a:defRPr sz="2100"/>
            </a:pPr>
            <a:r>
              <a:t>Meal Schedule Planner</a:t>
            </a:r>
          </a:p>
          <a:p>
            <a:pPr marL="194309" indent="-194309" algn="just" defTabSz="777240">
              <a:lnSpc>
                <a:spcPct val="108000"/>
              </a:lnSpc>
              <a:spcBef>
                <a:spcPts val="800"/>
              </a:spcBef>
              <a:defRPr sz="2100"/>
            </a:pPr>
            <a:r>
              <a:t>Auto Grocery List Generator</a:t>
            </a:r>
          </a:p>
          <a:p>
            <a:pPr marL="194309" indent="-194309" algn="just" defTabSz="777240">
              <a:lnSpc>
                <a:spcPct val="108000"/>
              </a:lnSpc>
              <a:spcBef>
                <a:spcPts val="800"/>
              </a:spcBef>
              <a:defRPr sz="2100"/>
            </a:pPr>
            <a:r>
              <a:t>Personalized Recipe Feed</a:t>
            </a:r>
          </a:p>
          <a:p>
            <a:pPr marL="194309" indent="-194309" algn="just" defTabSz="777240">
              <a:lnSpc>
                <a:spcPct val="108000"/>
              </a:lnSpc>
              <a:spcBef>
                <a:spcPts val="800"/>
              </a:spcBef>
              <a:defRPr sz="2100"/>
            </a:pPr>
            <a:r>
              <a:t>Recipe Like &amp; Feedback System</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Title 1"/>
          <p:cNvSpPr txBox="1">
            <a:spLocks noGrp="1"/>
          </p:cNvSpPr>
          <p:nvPr>
            <p:ph type="title"/>
          </p:nvPr>
        </p:nvSpPr>
        <p:spPr>
          <a:xfrm>
            <a:off x="450768" y="-179702"/>
            <a:ext cx="10515601" cy="1325564"/>
          </a:xfrm>
          <a:prstGeom prst="rect">
            <a:avLst/>
          </a:prstGeom>
        </p:spPr>
        <p:txBody>
          <a:bodyPr/>
          <a:lstStyle>
            <a:lvl1pPr>
              <a:defRPr b="1" u="sng"/>
            </a:lvl1pPr>
          </a:lstStyle>
          <a:p>
            <a:r>
              <a:t>System Architecture</a:t>
            </a:r>
          </a:p>
        </p:txBody>
      </p:sp>
      <p:grpSp>
        <p:nvGrpSpPr>
          <p:cNvPr id="120" name="Image Gallery"/>
          <p:cNvGrpSpPr/>
          <p:nvPr/>
        </p:nvGrpSpPr>
        <p:grpSpPr>
          <a:xfrm>
            <a:off x="361188" y="1074443"/>
            <a:ext cx="11237459" cy="5815859"/>
            <a:chOff x="0" y="0"/>
            <a:chExt cx="11237457" cy="5815856"/>
          </a:xfrm>
        </p:grpSpPr>
        <p:pic>
          <p:nvPicPr>
            <p:cNvPr id="118" name="Screenshot 2026-02-24 at 23.22.13.png" descr="Screenshot 2026-02-24 at 23.22.13.png"/>
            <p:cNvPicPr>
              <a:picLocks noChangeAspect="1"/>
            </p:cNvPicPr>
            <p:nvPr/>
          </p:nvPicPr>
          <p:blipFill>
            <a:blip r:embed="rId2"/>
            <a:srcRect t="1724" b="1724"/>
            <a:stretch>
              <a:fillRect/>
            </a:stretch>
          </p:blipFill>
          <p:spPr>
            <a:xfrm>
              <a:off x="0" y="-1"/>
              <a:ext cx="11237458" cy="5307859"/>
            </a:xfrm>
            <a:prstGeom prst="rect">
              <a:avLst/>
            </a:prstGeom>
            <a:ln w="12700" cap="flat">
              <a:noFill/>
              <a:miter lim="400000"/>
            </a:ln>
            <a:effectLst/>
          </p:spPr>
        </p:pic>
        <p:sp>
          <p:nvSpPr>
            <p:cNvPr id="119" name="Rectangle"/>
            <p:cNvSpPr txBox="1"/>
            <p:nvPr/>
          </p:nvSpPr>
          <p:spPr>
            <a:xfrm>
              <a:off x="-1" y="5384056"/>
              <a:ext cx="11237459" cy="431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numCol="1" anchor="t">
              <a:spAutoFit/>
            </a:bodyPr>
            <a:lstStyle/>
            <a:p>
              <a:r>
                <a:t> </a:t>
              </a: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Box 2"/>
          <p:cNvSpPr txBox="1"/>
          <p:nvPr/>
        </p:nvSpPr>
        <p:spPr>
          <a:xfrm>
            <a:off x="176269" y="99152"/>
            <a:ext cx="11839462" cy="7645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4400" b="1" u="sng">
                <a:latin typeface="Aptos Display"/>
                <a:ea typeface="Aptos Display"/>
                <a:cs typeface="Aptos Display"/>
                <a:sym typeface="Aptos Display"/>
              </a:defRPr>
            </a:lvl1pPr>
          </a:lstStyle>
          <a:p>
            <a:r>
              <a:t>Workflow Diagram</a:t>
            </a:r>
          </a:p>
        </p:txBody>
      </p:sp>
      <p:pic>
        <p:nvPicPr>
          <p:cNvPr id="123" name="Picture 6" descr="Picture 6"/>
          <p:cNvPicPr>
            <a:picLocks noChangeAspect="1"/>
          </p:cNvPicPr>
          <p:nvPr/>
        </p:nvPicPr>
        <p:blipFill>
          <a:blip r:embed="rId2"/>
          <a:stretch>
            <a:fillRect/>
          </a:stretch>
        </p:blipFill>
        <p:spPr>
          <a:xfrm>
            <a:off x="674617" y="1124576"/>
            <a:ext cx="10842766" cy="5199985"/>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1"/>
          <p:cNvSpPr txBox="1">
            <a:spLocks noGrp="1"/>
          </p:cNvSpPr>
          <p:nvPr>
            <p:ph type="title"/>
          </p:nvPr>
        </p:nvSpPr>
        <p:spPr>
          <a:xfrm>
            <a:off x="838200" y="365125"/>
            <a:ext cx="10515600" cy="1325563"/>
          </a:xfrm>
          <a:prstGeom prst="rect">
            <a:avLst/>
          </a:prstGeom>
        </p:spPr>
        <p:txBody>
          <a:bodyPr/>
          <a:lstStyle>
            <a:lvl1pPr>
              <a:defRPr b="1" u="sng"/>
            </a:lvl1pPr>
          </a:lstStyle>
          <a:p>
            <a:r>
              <a:t>Technology Stack</a:t>
            </a:r>
          </a:p>
        </p:txBody>
      </p:sp>
      <p:sp>
        <p:nvSpPr>
          <p:cNvPr id="126" name="TextBox 3"/>
          <p:cNvSpPr txBox="1"/>
          <p:nvPr/>
        </p:nvSpPr>
        <p:spPr>
          <a:xfrm>
            <a:off x="1253345" y="1871980"/>
            <a:ext cx="3446555" cy="25958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nSpc>
                <a:spcPct val="120000"/>
              </a:lnSpc>
              <a:defRPr sz="2800" b="1"/>
            </a:pPr>
            <a:r>
              <a:t>Frontend:</a:t>
            </a:r>
            <a:br/>
            <a:r>
              <a:rPr b="0"/>
              <a:t>• React.js</a:t>
            </a:r>
            <a:br>
              <a:rPr b="0"/>
            </a:br>
            <a:r>
              <a:rPr b="0"/>
              <a:t>• Tailwind CSS</a:t>
            </a:r>
            <a:br>
              <a:rPr b="0"/>
            </a:br>
            <a:r>
              <a:rPr b="0"/>
              <a:t>• JavaScript</a:t>
            </a:r>
            <a:br>
              <a:rPr b="0"/>
            </a:br>
            <a:r>
              <a:rPr b="0"/>
              <a:t>• React Router DOM</a:t>
            </a:r>
          </a:p>
        </p:txBody>
      </p:sp>
      <p:sp>
        <p:nvSpPr>
          <p:cNvPr id="127" name="TextBox 4"/>
          <p:cNvSpPr txBox="1"/>
          <p:nvPr/>
        </p:nvSpPr>
        <p:spPr>
          <a:xfrm>
            <a:off x="6727012" y="4769016"/>
            <a:ext cx="4223750" cy="1041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nSpc>
                <a:spcPct val="120000"/>
              </a:lnSpc>
              <a:defRPr sz="2800" b="1"/>
            </a:pPr>
            <a:r>
              <a:t>Authentication:</a:t>
            </a:r>
            <a:br/>
            <a:r>
              <a:rPr b="0"/>
              <a:t>• JWT (JSON Web Token)</a:t>
            </a:r>
          </a:p>
        </p:txBody>
      </p:sp>
      <p:sp>
        <p:nvSpPr>
          <p:cNvPr id="128" name="TextBox 5"/>
          <p:cNvSpPr txBox="1"/>
          <p:nvPr/>
        </p:nvSpPr>
        <p:spPr>
          <a:xfrm>
            <a:off x="6714904" y="1972056"/>
            <a:ext cx="3886778" cy="1041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nSpc>
                <a:spcPct val="120000"/>
              </a:lnSpc>
              <a:defRPr sz="2800" b="1"/>
            </a:pPr>
            <a:r>
              <a:t>Backend:</a:t>
            </a:r>
            <a:br/>
            <a:r>
              <a:rPr b="0"/>
              <a:t>• Spring Boot (Java)</a:t>
            </a:r>
          </a:p>
        </p:txBody>
      </p:sp>
      <p:sp>
        <p:nvSpPr>
          <p:cNvPr id="129" name="TextBox 7"/>
          <p:cNvSpPr txBox="1"/>
          <p:nvPr/>
        </p:nvSpPr>
        <p:spPr>
          <a:xfrm>
            <a:off x="1253345" y="4781123"/>
            <a:ext cx="2647901" cy="1041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nSpc>
                <a:spcPct val="120000"/>
              </a:lnSpc>
              <a:defRPr sz="2800" b="1"/>
            </a:pPr>
            <a:r>
              <a:t>Database:</a:t>
            </a:r>
            <a:br/>
            <a:r>
              <a:rPr b="0"/>
              <a:t>• MongoDB</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Box 1"/>
          <p:cNvSpPr txBox="1"/>
          <p:nvPr/>
        </p:nvSpPr>
        <p:spPr>
          <a:xfrm>
            <a:off x="502918" y="904226"/>
            <a:ext cx="4225920" cy="1564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342900" indent="-342900" algn="just">
              <a:buSzPct val="100000"/>
              <a:buAutoNum type="arabicPeriod"/>
              <a:defRPr sz="2400" b="1"/>
            </a:pPr>
            <a:r>
              <a:t>User Management Module</a:t>
            </a:r>
          </a:p>
          <a:p>
            <a:pPr algn="just">
              <a:defRPr sz="2400"/>
            </a:pPr>
            <a:r>
              <a:t> • User Registration </a:t>
            </a:r>
          </a:p>
          <a:p>
            <a:pPr algn="just">
              <a:defRPr sz="2400"/>
            </a:pPr>
            <a:r>
              <a:t> • Login Authentication (JWT)</a:t>
            </a:r>
          </a:p>
          <a:p>
            <a:pPr algn="just">
              <a:defRPr sz="2400"/>
            </a:pPr>
            <a:r>
              <a:t> • Profile Management </a:t>
            </a:r>
          </a:p>
        </p:txBody>
      </p:sp>
      <p:sp>
        <p:nvSpPr>
          <p:cNvPr id="132" name="TextBox 3"/>
          <p:cNvSpPr txBox="1"/>
          <p:nvPr/>
        </p:nvSpPr>
        <p:spPr>
          <a:xfrm>
            <a:off x="502917" y="2819475"/>
            <a:ext cx="6002634" cy="1564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defRPr sz="2400" b="1"/>
            </a:pPr>
            <a:r>
              <a:t>3. Meal Planning Module </a:t>
            </a:r>
          </a:p>
          <a:p>
            <a:pPr>
              <a:defRPr sz="2400"/>
            </a:pPr>
            <a:r>
              <a:t> • Weekly Meal Scheduler </a:t>
            </a:r>
          </a:p>
          <a:p>
            <a:pPr>
              <a:defRPr sz="2400"/>
            </a:pPr>
            <a:r>
              <a:t>• Personalized Today Feed </a:t>
            </a:r>
          </a:p>
          <a:p>
            <a:pPr>
              <a:defRPr sz="2400"/>
            </a:pPr>
            <a:r>
              <a:t> • Favorite Recipes</a:t>
            </a:r>
          </a:p>
        </p:txBody>
      </p:sp>
      <p:sp>
        <p:nvSpPr>
          <p:cNvPr id="133" name="TextBox 5"/>
          <p:cNvSpPr txBox="1"/>
          <p:nvPr/>
        </p:nvSpPr>
        <p:spPr>
          <a:xfrm>
            <a:off x="6688357" y="848442"/>
            <a:ext cx="6002632" cy="19329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defRPr sz="2400" b="1"/>
            </a:pPr>
            <a:r>
              <a:t>2. Recipe Management Module </a:t>
            </a:r>
          </a:p>
          <a:p>
            <a:pPr>
              <a:defRPr sz="2400"/>
            </a:pPr>
            <a:r>
              <a:t> • Add / Import Recipe</a:t>
            </a:r>
          </a:p>
          <a:p>
            <a:pPr algn="just">
              <a:defRPr sz="2400"/>
            </a:pPr>
            <a:r>
              <a:t> • Ingredient Management</a:t>
            </a:r>
          </a:p>
          <a:p>
            <a:pPr>
              <a:defRPr sz="2400"/>
            </a:pPr>
            <a:r>
              <a:t> • Step-by-Step Instructions </a:t>
            </a:r>
          </a:p>
          <a:p>
            <a:pPr>
              <a:defRPr sz="2400"/>
            </a:pPr>
            <a:r>
              <a:t> • Image Upload</a:t>
            </a:r>
          </a:p>
        </p:txBody>
      </p:sp>
      <p:sp>
        <p:nvSpPr>
          <p:cNvPr id="134" name="TextBox 7"/>
          <p:cNvSpPr txBox="1"/>
          <p:nvPr/>
        </p:nvSpPr>
        <p:spPr>
          <a:xfrm>
            <a:off x="502917" y="4785375"/>
            <a:ext cx="6002634" cy="19329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defRPr sz="2400" b="1"/>
            </a:pPr>
            <a:r>
              <a:t>5. Diet Analytics Module </a:t>
            </a:r>
          </a:p>
          <a:p>
            <a:pPr>
              <a:defRPr sz="2400"/>
            </a:pPr>
            <a:r>
              <a:t> • Weekly Diet Analytics Dashboard </a:t>
            </a:r>
          </a:p>
          <a:p>
            <a:pPr>
              <a:defRPr sz="2400"/>
            </a:pPr>
            <a:r>
              <a:t> • Budget-Based Filtering</a:t>
            </a:r>
          </a:p>
          <a:p>
            <a:pPr>
              <a:defRPr sz="2400"/>
            </a:pPr>
            <a:r>
              <a:t> • Nutrition Tracking </a:t>
            </a:r>
          </a:p>
          <a:p>
            <a:pPr>
              <a:defRPr sz="2400"/>
            </a:pPr>
            <a:r>
              <a:t> • Consumption Insights</a:t>
            </a:r>
          </a:p>
        </p:txBody>
      </p:sp>
      <p:sp>
        <p:nvSpPr>
          <p:cNvPr id="135" name="TextBox 9"/>
          <p:cNvSpPr txBox="1"/>
          <p:nvPr/>
        </p:nvSpPr>
        <p:spPr>
          <a:xfrm>
            <a:off x="6688357" y="2816781"/>
            <a:ext cx="6002632" cy="19329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defRPr sz="2400" b="1"/>
            </a:pPr>
            <a:r>
              <a:t>4. Grocery Management Module </a:t>
            </a:r>
          </a:p>
          <a:p>
            <a:pPr>
              <a:defRPr sz="2400"/>
            </a:pPr>
            <a:r>
              <a:t> • Auto Grocery List Generation </a:t>
            </a:r>
          </a:p>
          <a:p>
            <a:pPr>
              <a:defRPr sz="2400"/>
            </a:pPr>
            <a:r>
              <a:t> • Ingredient Aggregation </a:t>
            </a:r>
          </a:p>
          <a:p>
            <a:pPr>
              <a:defRPr sz="2400"/>
            </a:pPr>
            <a:r>
              <a:t> • Duplicate Removal</a:t>
            </a:r>
          </a:p>
          <a:p>
            <a:pPr>
              <a:defRPr sz="2400"/>
            </a:pPr>
            <a:r>
              <a:t> • Quantity Calculation</a:t>
            </a:r>
          </a:p>
        </p:txBody>
      </p:sp>
      <p:sp>
        <p:nvSpPr>
          <p:cNvPr id="136" name="TextBox 11"/>
          <p:cNvSpPr txBox="1"/>
          <p:nvPr/>
        </p:nvSpPr>
        <p:spPr>
          <a:xfrm>
            <a:off x="6776493" y="4785375"/>
            <a:ext cx="6002632" cy="1564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defRPr sz="2400" b="1"/>
            </a:pPr>
            <a:r>
              <a:t>6. Social Interaction Module </a:t>
            </a:r>
          </a:p>
          <a:p>
            <a:pPr>
              <a:defRPr sz="2400"/>
            </a:pPr>
            <a:r>
              <a:t> • Like Recipes</a:t>
            </a:r>
          </a:p>
          <a:p>
            <a:pPr>
              <a:defRPr sz="2400"/>
            </a:pPr>
            <a:r>
              <a:t> • Add/Delete Comments </a:t>
            </a:r>
          </a:p>
          <a:p>
            <a:pPr>
              <a:defRPr sz="2400"/>
            </a:pPr>
            <a:r>
              <a:t> • Engagement Tracking</a:t>
            </a:r>
          </a:p>
        </p:txBody>
      </p:sp>
      <p:sp>
        <p:nvSpPr>
          <p:cNvPr id="137" name="TextBox 12"/>
          <p:cNvSpPr txBox="1"/>
          <p:nvPr/>
        </p:nvSpPr>
        <p:spPr>
          <a:xfrm>
            <a:off x="416109" y="139684"/>
            <a:ext cx="4399539" cy="7645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4400" b="1"/>
            </a:lvl1pPr>
          </a:lstStyle>
          <a:p>
            <a:r>
              <a:t>Core Modules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itle 1"/>
          <p:cNvSpPr txBox="1">
            <a:spLocks noGrp="1"/>
          </p:cNvSpPr>
          <p:nvPr>
            <p:ph type="title"/>
          </p:nvPr>
        </p:nvSpPr>
        <p:spPr>
          <a:xfrm>
            <a:off x="839787" y="365125"/>
            <a:ext cx="10515601" cy="1325563"/>
          </a:xfrm>
          <a:prstGeom prst="rect">
            <a:avLst/>
          </a:prstGeom>
        </p:spPr>
        <p:txBody>
          <a:bodyPr/>
          <a:lstStyle>
            <a:lvl1pPr>
              <a:defRPr b="1" u="sng"/>
            </a:lvl1pPr>
          </a:lstStyle>
          <a:p>
            <a:r>
              <a:t>Requirements</a:t>
            </a:r>
          </a:p>
        </p:txBody>
      </p:sp>
      <p:sp>
        <p:nvSpPr>
          <p:cNvPr id="140" name="Text Placeholder 2"/>
          <p:cNvSpPr txBox="1">
            <a:spLocks noGrp="1"/>
          </p:cNvSpPr>
          <p:nvPr>
            <p:ph type="body" sz="quarter" idx="1"/>
          </p:nvPr>
        </p:nvSpPr>
        <p:spPr>
          <a:xfrm>
            <a:off x="839786" y="1681163"/>
            <a:ext cx="5157791" cy="823914"/>
          </a:xfrm>
          <a:prstGeom prst="rect">
            <a:avLst/>
          </a:prstGeom>
        </p:spPr>
        <p:txBody>
          <a:bodyPr/>
          <a:lstStyle>
            <a:lvl1pPr>
              <a:defRPr sz="2800" u="sng"/>
            </a:lvl1pPr>
          </a:lstStyle>
          <a:p>
            <a:r>
              <a:t>Functional Requirements</a:t>
            </a:r>
          </a:p>
        </p:txBody>
      </p:sp>
      <p:sp>
        <p:nvSpPr>
          <p:cNvPr id="141" name="Text Placeholder 4"/>
          <p:cNvSpPr>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marL="0" indent="0">
              <a:buSzTx/>
              <a:buNone/>
              <a:defRPr b="1" u="sng"/>
            </a:lvl1pPr>
          </a:lstStyle>
          <a:p>
            <a:r>
              <a:t>Non-Functional Requirements</a:t>
            </a:r>
          </a:p>
        </p:txBody>
      </p:sp>
      <p:sp>
        <p:nvSpPr>
          <p:cNvPr id="142" name="Rectangle 3"/>
          <p:cNvSpPr txBox="1"/>
          <p:nvPr/>
        </p:nvSpPr>
        <p:spPr>
          <a:xfrm>
            <a:off x="1148547" y="2603426"/>
            <a:ext cx="3323800" cy="26776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normAutofit/>
          </a:bodyPr>
          <a:lstStyle/>
          <a:p>
            <a:pPr defTabSz="777240">
              <a:lnSpc>
                <a:spcPct val="108000"/>
              </a:lnSpc>
              <a:buSzPct val="100000"/>
              <a:buChar char="•"/>
              <a:defRPr sz="2300">
                <a:latin typeface="Aptos Display"/>
                <a:ea typeface="Aptos Display"/>
                <a:cs typeface="Aptos Display"/>
                <a:sym typeface="Aptos Display"/>
              </a:defRPr>
            </a:pPr>
            <a:r>
              <a:t> User Authentication</a:t>
            </a:r>
          </a:p>
          <a:p>
            <a:pPr defTabSz="777240">
              <a:lnSpc>
                <a:spcPct val="108000"/>
              </a:lnSpc>
              <a:buSzPct val="100000"/>
              <a:buChar char="•"/>
              <a:defRPr sz="2300">
                <a:latin typeface="Aptos Display"/>
                <a:ea typeface="Aptos Display"/>
                <a:cs typeface="Aptos Display"/>
                <a:sym typeface="Aptos Display"/>
              </a:defRPr>
            </a:pPr>
            <a:r>
              <a:t> Recipe Management</a:t>
            </a:r>
          </a:p>
          <a:p>
            <a:pPr defTabSz="777240">
              <a:lnSpc>
                <a:spcPct val="108000"/>
              </a:lnSpc>
              <a:buSzPct val="100000"/>
              <a:buChar char="•"/>
              <a:defRPr sz="2300">
                <a:latin typeface="Aptos Display"/>
                <a:ea typeface="Aptos Display"/>
                <a:cs typeface="Aptos Display"/>
                <a:sym typeface="Aptos Display"/>
              </a:defRPr>
            </a:pPr>
            <a:r>
              <a:t> Time &amp; Budget Filtering</a:t>
            </a:r>
          </a:p>
          <a:p>
            <a:pPr defTabSz="777240">
              <a:lnSpc>
                <a:spcPct val="108000"/>
              </a:lnSpc>
              <a:buSzPct val="100000"/>
              <a:buChar char="•"/>
              <a:defRPr sz="2300">
                <a:latin typeface="Aptos Display"/>
                <a:ea typeface="Aptos Display"/>
                <a:cs typeface="Aptos Display"/>
                <a:sym typeface="Aptos Display"/>
              </a:defRPr>
            </a:pPr>
            <a:r>
              <a:t> Meal Scheduling</a:t>
            </a:r>
          </a:p>
          <a:p>
            <a:pPr defTabSz="777240">
              <a:lnSpc>
                <a:spcPct val="108000"/>
              </a:lnSpc>
              <a:buSzPct val="100000"/>
              <a:buChar char="•"/>
              <a:defRPr sz="2300">
                <a:latin typeface="Aptos Display"/>
                <a:ea typeface="Aptos Display"/>
                <a:cs typeface="Aptos Display"/>
                <a:sym typeface="Aptos Display"/>
              </a:defRPr>
            </a:pPr>
            <a:r>
              <a:t> Auto Grocery List</a:t>
            </a:r>
          </a:p>
          <a:p>
            <a:pPr defTabSz="777240">
              <a:lnSpc>
                <a:spcPct val="108000"/>
              </a:lnSpc>
              <a:buSzPct val="100000"/>
              <a:buChar char="•"/>
              <a:defRPr sz="2300">
                <a:latin typeface="Aptos Display"/>
                <a:ea typeface="Aptos Display"/>
                <a:cs typeface="Aptos Display"/>
                <a:sym typeface="Aptos Display"/>
              </a:defRPr>
            </a:pPr>
            <a:r>
              <a:t> Meal Reminders</a:t>
            </a:r>
          </a:p>
        </p:txBody>
      </p:sp>
      <p:sp>
        <p:nvSpPr>
          <p:cNvPr id="143" name="Rectangle 4"/>
          <p:cNvSpPr txBox="1"/>
          <p:nvPr/>
        </p:nvSpPr>
        <p:spPr>
          <a:xfrm>
            <a:off x="6662950" y="2603426"/>
            <a:ext cx="3827273" cy="26776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normAutofit/>
          </a:bodyPr>
          <a:lstStyle/>
          <a:p>
            <a:pPr defTabSz="777240">
              <a:lnSpc>
                <a:spcPct val="108000"/>
              </a:lnSpc>
              <a:buSzPct val="100000"/>
              <a:buChar char="•"/>
              <a:defRPr sz="2300">
                <a:latin typeface="Aptos Display"/>
                <a:ea typeface="Aptos Display"/>
                <a:cs typeface="Aptos Display"/>
                <a:sym typeface="Aptos Display"/>
              </a:defRPr>
            </a:pPr>
            <a:r>
              <a:t> High Performance</a:t>
            </a:r>
          </a:p>
          <a:p>
            <a:pPr defTabSz="777240">
              <a:lnSpc>
                <a:spcPct val="108000"/>
              </a:lnSpc>
              <a:buSzPct val="100000"/>
              <a:buChar char="•"/>
              <a:defRPr sz="2300">
                <a:latin typeface="Aptos Display"/>
                <a:ea typeface="Aptos Display"/>
                <a:cs typeface="Aptos Display"/>
                <a:sym typeface="Aptos Display"/>
              </a:defRPr>
            </a:pPr>
            <a:r>
              <a:t> Secure JWT Authentication</a:t>
            </a:r>
          </a:p>
          <a:p>
            <a:pPr defTabSz="777240">
              <a:lnSpc>
                <a:spcPct val="108000"/>
              </a:lnSpc>
              <a:buSzPct val="100000"/>
              <a:buChar char="•"/>
              <a:defRPr sz="2300">
                <a:latin typeface="Aptos Display"/>
                <a:ea typeface="Aptos Display"/>
                <a:cs typeface="Aptos Display"/>
                <a:sym typeface="Aptos Display"/>
              </a:defRPr>
            </a:pPr>
            <a:r>
              <a:t> User-Friendly UI</a:t>
            </a:r>
          </a:p>
          <a:p>
            <a:pPr defTabSz="777240">
              <a:lnSpc>
                <a:spcPct val="108000"/>
              </a:lnSpc>
              <a:buSzPct val="100000"/>
              <a:buChar char="•"/>
              <a:defRPr sz="2300">
                <a:latin typeface="Aptos Display"/>
                <a:ea typeface="Aptos Display"/>
                <a:cs typeface="Aptos Display"/>
                <a:sym typeface="Aptos Display"/>
              </a:defRPr>
            </a:pPr>
            <a:r>
              <a:t> Multi-User Scalability</a:t>
            </a:r>
          </a:p>
          <a:p>
            <a:pPr defTabSz="777240">
              <a:lnSpc>
                <a:spcPct val="108000"/>
              </a:lnSpc>
              <a:buSzPct val="100000"/>
              <a:buChar char="•"/>
              <a:defRPr sz="2300">
                <a:latin typeface="Aptos Display"/>
                <a:ea typeface="Aptos Display"/>
                <a:cs typeface="Aptos Display"/>
                <a:sym typeface="Aptos Display"/>
              </a:defRPr>
            </a:pPr>
            <a:r>
              <a:t> Cross-Platform Support</a:t>
            </a:r>
          </a:p>
          <a:p>
            <a:pPr defTabSz="777240">
              <a:lnSpc>
                <a:spcPct val="108000"/>
              </a:lnSpc>
              <a:buSzPct val="100000"/>
              <a:buChar char="•"/>
              <a:defRPr sz="2300">
                <a:latin typeface="Aptos Display"/>
                <a:ea typeface="Aptos Display"/>
                <a:cs typeface="Aptos Display"/>
                <a:sym typeface="Aptos Display"/>
              </a:defRPr>
            </a:pPr>
            <a:r>
              <a:t> Reliable MongoDB Storage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itle 1"/>
          <p:cNvSpPr txBox="1">
            <a:spLocks noGrp="1"/>
          </p:cNvSpPr>
          <p:nvPr>
            <p:ph type="title"/>
          </p:nvPr>
        </p:nvSpPr>
        <p:spPr>
          <a:xfrm>
            <a:off x="705020" y="38229"/>
            <a:ext cx="10515601" cy="1325564"/>
          </a:xfrm>
          <a:prstGeom prst="rect">
            <a:avLst/>
          </a:prstGeom>
        </p:spPr>
        <p:txBody>
          <a:bodyPr/>
          <a:lstStyle>
            <a:lvl1pPr>
              <a:defRPr b="1" u="sng"/>
            </a:lvl1pPr>
          </a:lstStyle>
          <a:p>
            <a:r>
              <a:t>Advantages</a:t>
            </a:r>
          </a:p>
        </p:txBody>
      </p:sp>
      <p:sp>
        <p:nvSpPr>
          <p:cNvPr id="146" name="Content Placeholder 2"/>
          <p:cNvSpPr txBox="1">
            <a:spLocks noGrp="1"/>
          </p:cNvSpPr>
          <p:nvPr>
            <p:ph type="body" idx="1"/>
          </p:nvPr>
        </p:nvSpPr>
        <p:spPr>
          <a:xfrm>
            <a:off x="523411" y="1253330"/>
            <a:ext cx="11145178" cy="5069830"/>
          </a:xfrm>
          <a:prstGeom prst="rect">
            <a:avLst/>
          </a:prstGeom>
        </p:spPr>
        <p:txBody>
          <a:bodyPr/>
          <a:lstStyle/>
          <a:p>
            <a:pPr marL="193708" indent="-193708" algn="just" defTabSz="420623">
              <a:lnSpc>
                <a:spcPct val="108000"/>
              </a:lnSpc>
              <a:spcBef>
                <a:spcPts val="1100"/>
              </a:spcBef>
              <a:buFontTx/>
              <a:defRPr sz="1900" b="1"/>
            </a:pPr>
            <a:r>
              <a:t>Reduces Food Wastage</a:t>
            </a:r>
            <a:r>
              <a:rPr b="0"/>
              <a:t> Users enter leftover ingredients at home and the system instantly suggests matching recipes. This ensures no ingredient goes to waste and encourages cooking with what's already available.</a:t>
            </a:r>
            <a:endParaRPr>
              <a:latin typeface="Times Roman"/>
              <a:ea typeface="Times Roman"/>
              <a:cs typeface="Times Roman"/>
              <a:sym typeface="Times Roman"/>
            </a:endParaRPr>
          </a:p>
          <a:p>
            <a:pPr marL="193708" indent="-193708" algn="just" defTabSz="420623">
              <a:lnSpc>
                <a:spcPct val="108000"/>
              </a:lnSpc>
              <a:spcBef>
                <a:spcPts val="0"/>
              </a:spcBef>
              <a:buFontTx/>
              <a:defRPr sz="1900" b="1"/>
            </a:pPr>
            <a:r>
              <a:t>Budget Friendly Meals</a:t>
            </a:r>
            <a:r>
              <a:rPr b="0"/>
              <a:t> Users set a budget in ₹ and the system filters recipes whose total ingredient cost fits within it. This makes healthy home cooking accessible for students, families, and anyone managing expenses.</a:t>
            </a:r>
            <a:endParaRPr>
              <a:latin typeface="Times Roman"/>
              <a:ea typeface="Times Roman"/>
              <a:cs typeface="Times Roman"/>
              <a:sym typeface="Times Roman"/>
            </a:endParaRPr>
          </a:p>
          <a:p>
            <a:pPr marL="193708" indent="-193708" algn="just" defTabSz="420623">
              <a:lnSpc>
                <a:spcPct val="108000"/>
              </a:lnSpc>
              <a:spcBef>
                <a:spcPts val="0"/>
              </a:spcBef>
              <a:buFontTx/>
              <a:defRPr sz="1900" b="1"/>
            </a:pPr>
            <a:r>
              <a:t>Time Efficient Cooking</a:t>
            </a:r>
            <a:r>
              <a:rPr b="0"/>
              <a:t> Recipes can be filtered by cooking time — under 15, 30, or 60 minutes — so users always find something that fits their schedule. No more spending extra time browsing when you're hungry and in a hurry.</a:t>
            </a:r>
            <a:endParaRPr>
              <a:latin typeface="Times Roman"/>
              <a:ea typeface="Times Roman"/>
              <a:cs typeface="Times Roman"/>
              <a:sym typeface="Times Roman"/>
            </a:endParaRPr>
          </a:p>
          <a:p>
            <a:pPr marL="193708" indent="-193708" algn="just" defTabSz="420623">
              <a:lnSpc>
                <a:spcPct val="108000"/>
              </a:lnSpc>
              <a:spcBef>
                <a:spcPts val="0"/>
              </a:spcBef>
              <a:buFontTx/>
              <a:defRPr sz="1900" b="1"/>
            </a:pPr>
            <a:r>
              <a:t>Personalized Suggestions</a:t>
            </a:r>
            <a:r>
              <a:rPr b="0"/>
              <a:t> The homepage feed adapts to each user's meal schedule, diet preferences, and past searches to show the most relevant recipes. Every user gets a unique experience tailored to their lifestyle and taste.</a:t>
            </a:r>
            <a:endParaRPr>
              <a:latin typeface="Times Roman"/>
              <a:ea typeface="Times Roman"/>
              <a:cs typeface="Times Roman"/>
              <a:sym typeface="Times Roman"/>
            </a:endParaRPr>
          </a:p>
          <a:p>
            <a:pPr marL="193708" indent="-193708" algn="just" defTabSz="420623">
              <a:lnSpc>
                <a:spcPct val="108000"/>
              </a:lnSpc>
              <a:spcBef>
                <a:spcPts val="0"/>
              </a:spcBef>
              <a:buFontTx/>
              <a:defRPr sz="1900" b="1"/>
            </a:pPr>
            <a:r>
              <a:t>Smart Planning</a:t>
            </a:r>
            <a:r>
              <a:rPr b="0"/>
              <a:t> The weekly meal planner automatically generates a grocery list and diet analytics dashboard based on the user's scheduled meals. This takes the guesswork out of meal prep and helps users stay organised and nutrition-aware throughout the week.</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itle 1"/>
          <p:cNvSpPr txBox="1">
            <a:spLocks noGrp="1"/>
          </p:cNvSpPr>
          <p:nvPr>
            <p:ph type="title"/>
          </p:nvPr>
        </p:nvSpPr>
        <p:spPr>
          <a:xfrm>
            <a:off x="838200" y="365125"/>
            <a:ext cx="10515600" cy="1325563"/>
          </a:xfrm>
          <a:prstGeom prst="rect">
            <a:avLst/>
          </a:prstGeom>
        </p:spPr>
        <p:txBody>
          <a:bodyPr/>
          <a:lstStyle>
            <a:lvl1pPr>
              <a:defRPr b="1" u="sng"/>
            </a:lvl1pPr>
          </a:lstStyle>
          <a:p>
            <a:r>
              <a:t>Conclusion</a:t>
            </a:r>
          </a:p>
        </p:txBody>
      </p:sp>
      <p:sp>
        <p:nvSpPr>
          <p:cNvPr id="149" name="Content Placeholder 2"/>
          <p:cNvSpPr txBox="1">
            <a:spLocks noGrp="1"/>
          </p:cNvSpPr>
          <p:nvPr>
            <p:ph type="body" idx="1"/>
          </p:nvPr>
        </p:nvSpPr>
        <p:spPr>
          <a:xfrm>
            <a:off x="838200" y="1825625"/>
            <a:ext cx="10515600" cy="4351338"/>
          </a:xfrm>
          <a:prstGeom prst="rect">
            <a:avLst/>
          </a:prstGeom>
        </p:spPr>
        <p:txBody>
          <a:bodyPr/>
          <a:lstStyle/>
          <a:p>
            <a:pPr marL="0" indent="0">
              <a:lnSpc>
                <a:spcPct val="120000"/>
              </a:lnSpc>
              <a:buSzTx/>
              <a:buNone/>
              <a:defRPr sz="2600"/>
            </a:pPr>
            <a:r>
              <a:t>The </a:t>
            </a:r>
            <a:r>
              <a:rPr b="1"/>
              <a:t>Recipe and Meal Planning </a:t>
            </a:r>
            <a:r>
              <a:t>simplifies daily meal planning through smart recipe recommendations and automated scheduling.It helps reduce food wastage by generating consolidated grocery lists from planned meals.</a:t>
            </a:r>
            <a:br/>
            <a:r>
              <a:t>The system offers personalized diet insights using time and budget-based filtering.Built with MongoDB, it ensures efficient, scalable, and reliable data management.</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1005</Words>
  <Application>Microsoft Macintosh PowerPoint</Application>
  <PresentationFormat>Widescreen</PresentationFormat>
  <Paragraphs>121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Times New Roman</vt:lpstr>
      <vt:lpstr>Times Roman</vt:lpstr>
      <vt:lpstr>Office Theme</vt:lpstr>
      <vt:lpstr>PowerPoint Presentation</vt:lpstr>
      <vt:lpstr>Abstract</vt:lpstr>
      <vt:lpstr>Problem Statement</vt:lpstr>
      <vt:lpstr>Literature Survey</vt:lpstr>
      <vt:lpstr>Project Objectives</vt:lpstr>
      <vt:lpstr>Existing System: Yummly Website</vt:lpstr>
      <vt:lpstr>Proposed System</vt:lpstr>
      <vt:lpstr>System Architecture</vt:lpstr>
      <vt:lpstr>PowerPoint Presentation</vt:lpstr>
      <vt:lpstr>Technology Stack</vt:lpstr>
      <vt:lpstr>PowerPoint Presentation</vt:lpstr>
      <vt:lpstr>Requirements</vt:lpstr>
      <vt:lpstr>Advantages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PAKALA SUJAY CHANDRA REDDY</cp:lastModifiedBy>
  <cp:revision>1</cp:revision>
  <dcterms:modified xsi:type="dcterms:W3CDTF">2026-03-04T16:32:07Z</dcterms:modified>
</cp:coreProperties>
</file>